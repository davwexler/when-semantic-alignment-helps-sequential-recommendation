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60"/>
    <p:restoredTop sz="85252"/>
  </p:normalViewPr>
  <p:slideViewPr>
    <p:cSldViewPr snapToGrid="0" snapToObjects="1">
      <p:cViewPr>
        <p:scale>
          <a:sx n="100" d="100"/>
          <a:sy n="100" d="100"/>
        </p:scale>
        <p:origin x="1832" y="552"/>
      </p:cViewPr>
      <p:guideLst/>
    </p:cSldViewPr>
  </p:slideViewPr>
  <p:notesTextViewPr>
    <p:cViewPr>
      <p:scale>
        <a:sx n="170" d="100"/>
        <a:sy n="17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27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328648" y="914400"/>
            <a:ext cx="60693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YESHIVA UNIVERSITY · COMPUTER SCIENCE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66800" y="1519238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When Semantic Alignment Helps Sequential Recommendation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66800" y="2138363"/>
            <a:ext cx="16639032" cy="453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700" b="1" kern="0" spc="-217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Bridging language-model semantics and sequential recommendation </a:t>
            </a:r>
            <a:r>
              <a:rPr lang="en-US" sz="8700" kern="0" spc="-217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through contrastive alignment</a:t>
            </a:r>
            <a:endParaRPr lang="en-US" sz="8700" dirty="0"/>
          </a:p>
        </p:txBody>
      </p:sp>
      <p:sp>
        <p:nvSpPr>
          <p:cNvPr id="6" name="Text 4"/>
          <p:cNvSpPr/>
          <p:nvPr/>
        </p:nvSpPr>
        <p:spPr>
          <a:xfrm>
            <a:off x="1066800" y="6977063"/>
            <a:ext cx="1471612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small MLP heads on top of vanilla SASRec, trained with InfoNCE against a frozen sentence encoder, lift NDCG@10 by </a:t>
            </a:r>
            <a:r>
              <a:rPr lang="en-US" sz="3000" b="1" dirty="0">
                <a:solidFill>
                  <a:srgbClr val="1F7A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+60% </a:t>
            </a:r>
            <a:r>
              <a:rPr lang="en-US" sz="300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sparse, text-rich data.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66800" y="8372475"/>
            <a:ext cx="1615440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8648700"/>
            <a:ext cx="46032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David Wexler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66800" y="9115425"/>
            <a:ext cx="46032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dwexler1@mail.yu.edu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640026" y="8724900"/>
            <a:ext cx="658117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datasets · 5 seeds · 14 ablation variants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323492" y="9115425"/>
            <a:ext cx="138977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 err="1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</a:t>
            </a: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r>
              <a:rPr lang="en-US" sz="1950" dirty="0" err="1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DavWexler</a:t>
            </a: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/When-Semantic-Alignment-Helps-Sequential-</a:t>
            </a:r>
            <a:r>
              <a:rPr lang="en-US" sz="1950" dirty="0" err="1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Recommentation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SETUP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471612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recent ideas pull in opposite directions.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66800" y="2257425"/>
            <a:ext cx="147161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000" kern="0" spc="-1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understands </a:t>
            </a:r>
            <a:r>
              <a:rPr lang="en-US" sz="3000" i="1" kern="0" spc="-1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</a:t>
            </a:r>
            <a:r>
              <a:rPr lang="en-US" sz="3000" kern="0" spc="-1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other understands </a:t>
            </a:r>
            <a:r>
              <a:rPr lang="en-US" sz="3000" i="1" kern="0" spc="-1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meaning</a:t>
            </a:r>
            <a:r>
              <a:rPr lang="en-US" sz="3000" kern="0" spc="-1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Neither does both.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6800" y="3381375"/>
            <a:ext cx="7848600" cy="5791200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57325" y="3814763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756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57375" y="3733800"/>
            <a:ext cx="44384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SASRec · Kang &amp; McAuley, 2018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57325" y="4257675"/>
            <a:ext cx="727957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600" b="1" kern="0" spc="-36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Sequential recommenders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57325" y="5076825"/>
            <a:ext cx="727957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Causal self-attention over a user's ordered history of item IDs.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57325" y="7372350"/>
            <a:ext cx="706755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57325" y="7686675"/>
            <a:ext cx="22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815554" y="7686675"/>
            <a:ext cx="6910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Captures temporal dynamics — what you watch </a:t>
            </a:r>
            <a:r>
              <a:rPr lang="en-US" sz="1950" i="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</a:t>
            </a: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57325" y="8153400"/>
            <a:ext cx="22487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815554" y="8153400"/>
            <a:ext cx="69106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item is an opaque integer. Title, genre, description: invisible.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372600" y="3381375"/>
            <a:ext cx="7848600" cy="5791200"/>
          </a:xfrm>
          <a:prstGeom prst="roundRect">
            <a:avLst>
              <a:gd name="adj" fmla="val 987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63125" y="3814763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63175" y="3733800"/>
            <a:ext cx="443844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RLMRec · Ren et al., WWW 2024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63125" y="4257675"/>
            <a:ext cx="727957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600" b="1" kern="0" spc="-36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LLM-aligned recommenders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763125" y="5076825"/>
            <a:ext cx="727957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Contrastively align user/item embeddings with frozen sentence-transformer text.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763125" y="7372350"/>
            <a:ext cx="706755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63125" y="7686675"/>
            <a:ext cx="2248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121354" y="7686675"/>
            <a:ext cx="69106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Embeddings reflect topical meaning, not just co-occurrence.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763125" y="8153400"/>
            <a:ext cx="22487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121354" y="8153400"/>
            <a:ext cx="69106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ever tested on </a:t>
            </a: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graph CF </a:t>
            </a: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backbones — no notion of sequence.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66800" y="9172575"/>
            <a:ext cx="1710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 err="1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SemanticSASRec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25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QUESTION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2719388"/>
            <a:ext cx="15893415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900" b="1" kern="0" spc="-138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one model understand </a:t>
            </a:r>
            <a:r>
              <a:rPr lang="en-US" sz="6900" b="1" kern="0" spc="-138" dirty="0">
                <a:solidFill>
                  <a:srgbClr val="2756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</a:t>
            </a:r>
            <a:r>
              <a:rPr lang="en-US" sz="6900" b="1" kern="0" spc="-138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</a:t>
            </a:r>
            <a:r>
              <a:rPr lang="en-US" sz="6900" b="1" kern="0" spc="-138" dirty="0">
                <a:solidFill>
                  <a:srgbClr val="D977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meaning </a:t>
            </a:r>
            <a:r>
              <a:rPr lang="en-US" sz="6900" b="1" kern="0" spc="-138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the same time?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066800" y="5081588"/>
            <a:ext cx="1543050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6800" y="5510213"/>
            <a:ext cx="14716125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published RLMRec paper benchmarks six graph-CF backbones — GCCF, LightGCN, SGL, SimGCL, DCCF, AutoCF. </a:t>
            </a:r>
            <a:r>
              <a:rPr lang="en-US" sz="3000" b="1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one ignores interaction order by design. </a:t>
            </a:r>
            <a:r>
              <a:rPr lang="en-US" sz="300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Whether the same auxiliary alignment helps a sequential transformer was left open.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6680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gap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25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CONTRIBUTIONS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56972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concrete contributions.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2676525"/>
            <a:ext cx="5156150" cy="6496050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57325" y="3028950"/>
            <a:ext cx="450635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1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457325" y="3790950"/>
            <a:ext cx="450635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b="1" kern="0" spc="-27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drop-in extension of SASRec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57325" y="4895849"/>
            <a:ext cx="4506353" cy="4029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two-layer MLP projection heads map SASRec's 50-d state into BGE-large's 1024-d semantic space. Trained with symmetric InfoNCE against frozen profile embeddings. </a:t>
            </a:r>
            <a:r>
              <a:rPr lang="en-US" sz="1950" i="1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Backbone, prediction head and BCE loss are all standard.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65850" y="2676525"/>
            <a:ext cx="5156150" cy="6496050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56375" y="3028950"/>
            <a:ext cx="450635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1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6956375" y="3790950"/>
            <a:ext cx="450635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b="1" kern="0" spc="-27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fair three-way head-to-head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956375" y="4895850"/>
            <a:ext cx="4506353" cy="250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SASRec, RLMRec+LightGCN, and </a:t>
            </a:r>
            <a:r>
              <a:rPr lang="en-US" sz="1950" dirty="0" err="1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SemanticSASRec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three datasets that span the density spectrum. </a:t>
            </a:r>
            <a:r>
              <a:rPr lang="en-US" sz="1950" b="1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splits, same evaluator, same five seeds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every (model, dataset) cell. Full-rank leave-one-out — no sampled negatives.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64901" y="2676525"/>
            <a:ext cx="5156299" cy="6496050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455426" y="3028950"/>
            <a:ext cx="45065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1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2455426" y="3790950"/>
            <a:ext cx="450650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b="1" kern="0" spc="-27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14-variant ablation grid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55426" y="4438650"/>
            <a:ext cx="4506507" cy="2152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row flips </a:t>
            </a:r>
            <a:r>
              <a:rPr lang="en-US" sz="1950" i="1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knob: loss components, λ sweep, τ sweep, projection-head architecture, sentence encoder. Paired t-tests against an in-ablation reference at held-constant seeds and epoch budget.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66800" y="9172575"/>
            <a:ext cx="1710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Contributions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25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 · ARCHITECTURE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projection heads, one frozen text encoder.</a:t>
            </a:r>
            <a:endParaRPr lang="en-US" sz="5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313087"/>
            <a:ext cx="16154400" cy="68417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800" y="9172575"/>
            <a:ext cx="29786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 (Figure 1)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25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METHOD · LOSS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training objective is one weighted sum.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185940" y="3027164"/>
            <a:ext cx="10213451" cy="1335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7200" i="1" kern="0" spc="-72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𝓛 = </a:t>
            </a:r>
            <a:r>
              <a:rPr lang="en-US" sz="7200" i="1" kern="0" spc="-72" dirty="0">
                <a:solidFill>
                  <a:srgbClr val="2756C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𝓛</a:t>
            </a:r>
            <a:r>
              <a:rPr lang="en-US" sz="3960" i="1" kern="0" spc="-72" baseline="-40000" dirty="0">
                <a:solidFill>
                  <a:srgbClr val="2756C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BCE </a:t>
            </a:r>
            <a:r>
              <a:rPr lang="en-US" sz="7200" i="1" kern="0" spc="-72" dirty="0">
                <a:solidFill>
                  <a:srgbClr val="6B665D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+ </a:t>
            </a:r>
            <a:r>
              <a:rPr lang="en-US" sz="7200" i="1" kern="0" spc="-72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λ</a:t>
            </a:r>
            <a:r>
              <a:rPr lang="en-US" sz="3960" i="1" kern="0" spc="-72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u </a:t>
            </a:r>
            <a:r>
              <a:rPr lang="en-US" sz="7200" i="1" kern="0" spc="-72" dirty="0">
                <a:solidFill>
                  <a:srgbClr val="1F7A4D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𝓛</a:t>
            </a:r>
            <a:r>
              <a:rPr lang="en-US" sz="3960" i="1" kern="0" spc="-72" baseline="-40000" dirty="0">
                <a:solidFill>
                  <a:srgbClr val="1F7A4D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u </a:t>
            </a:r>
            <a:r>
              <a:rPr lang="en-US" sz="7200" i="1" kern="0" spc="-72" dirty="0">
                <a:solidFill>
                  <a:srgbClr val="6B665D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+ </a:t>
            </a:r>
            <a:r>
              <a:rPr lang="en-US" sz="7200" i="1" kern="0" spc="-72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λ</a:t>
            </a:r>
            <a:r>
              <a:rPr lang="en-US" sz="3960" i="1" kern="0" spc="-72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 </a:t>
            </a:r>
            <a:r>
              <a:rPr lang="en-US" sz="7200" i="1" kern="0" spc="-72" dirty="0">
                <a:solidFill>
                  <a:srgbClr val="1F7A4D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𝓛</a:t>
            </a:r>
            <a:r>
              <a:rPr lang="en-US" sz="3960" i="1" kern="0" spc="-72" baseline="-40000" dirty="0">
                <a:solidFill>
                  <a:srgbClr val="1F7A4D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5124450"/>
            <a:ext cx="49838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75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𝓛_BCE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28750" y="5553075"/>
            <a:ext cx="498386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Sequential CF loss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28750" y="6076950"/>
            <a:ext cx="49838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Masked BCE on SASRec hidden states against positives and sampled negatives.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724650" y="5124450"/>
            <a:ext cx="49838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𝓛_u · symmetric InfoNCE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724650" y="5553075"/>
            <a:ext cx="498386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alignment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24650" y="6076950"/>
            <a:ext cx="49838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Pulls g_φᵘ(hᵤ) toward f_enc(τᵤ). In-batch negatives.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020550" y="5124450"/>
            <a:ext cx="49838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𝓛_i · symmetric InfoNCE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020550" y="5553075"/>
            <a:ext cx="498386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 alignment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020550" y="6076950"/>
            <a:ext cx="49838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Pulls g_ψⁱ(emb(i)) toward f_enc(τᵢ). Unique positives in batch, sub-sampled to K=512.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999732" y="7448550"/>
            <a:ext cx="8288387" cy="763786"/>
          </a:xfrm>
          <a:prstGeom prst="roundRect">
            <a:avLst>
              <a:gd name="adj" fmla="val 7482"/>
            </a:avLst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4532" y="7639050"/>
            <a:ext cx="7927439" cy="4208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2A2A24"/>
                </a:solidFill>
                <a:highlight>
                  <a:srgbClr val="EBE6D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Defaults (RLMRec paper): </a:t>
            </a:r>
            <a:r>
              <a:rPr lang="en-US" sz="1950" b="1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λ</a:t>
            </a:r>
            <a:r>
              <a:rPr lang="en-US" sz="1625" b="1" baseline="-4000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 </a:t>
            </a:r>
            <a:r>
              <a:rPr lang="en-US" sz="1950" b="1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 λ</a:t>
            </a:r>
            <a:r>
              <a:rPr lang="en-US" sz="1625" b="1" baseline="-4000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</a:t>
            </a:r>
            <a:r>
              <a:rPr lang="en-US" sz="1950" b="1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 0.1 </a:t>
            </a:r>
            <a:r>
              <a:rPr lang="en-US" sz="1950" dirty="0">
                <a:solidFill>
                  <a:srgbClr val="2A2A24"/>
                </a:solidFill>
                <a:highlight>
                  <a:srgbClr val="EBE6D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</a:t>
            </a:r>
            <a:r>
              <a:rPr lang="en-US" sz="1950" b="1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τ = 0.1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66800" y="9172575"/>
            <a:ext cx="23394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Training objective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25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EXPERIMENTAL SETUP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56972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datasets span the density spectrum.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66800" y="2238375"/>
            <a:ext cx="147161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000" kern="0" spc="-1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splits, same five seeds, same full-rank leave-one-out evaluator for every cell.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6800" y="4214813"/>
            <a:ext cx="270777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8250" y="3514725"/>
            <a:ext cx="2446112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132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DATASET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774579" y="4214813"/>
            <a:ext cx="138306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69829" y="3514725"/>
            <a:ext cx="111636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650" b="1" kern="0" spc="132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157639" y="4214813"/>
            <a:ext cx="138306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2889" y="3514725"/>
            <a:ext cx="111636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650" b="1" kern="0" spc="132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40698" y="4214813"/>
            <a:ext cx="218628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35948" y="3514725"/>
            <a:ext cx="1919585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650" b="1" kern="0" spc="132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INTER. / USER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726984" y="4214813"/>
            <a:ext cx="517981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98434" y="3514725"/>
            <a:ext cx="4992308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132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 TEXT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906798" y="4214813"/>
            <a:ext cx="331470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078248" y="3514725"/>
            <a:ext cx="3071241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kern="0" spc="132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DENSITY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66800" y="5176838"/>
            <a:ext cx="270777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38250" y="4381500"/>
            <a:ext cx="17515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MovieLens-1M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38250" y="4752975"/>
            <a:ext cx="24410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Harper &amp; Konstan, 2015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3774579" y="5176838"/>
            <a:ext cx="138306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69829" y="4376738"/>
            <a:ext cx="11163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6,040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157639" y="5176838"/>
            <a:ext cx="138306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52889" y="4376738"/>
            <a:ext cx="11163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3,706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540698" y="5176838"/>
            <a:ext cx="218628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35948" y="4376738"/>
            <a:ext cx="191958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~165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726984" y="5176838"/>
            <a:ext cx="517981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98434" y="4376738"/>
            <a:ext cx="499230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 + 1–3 genres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3906798" y="5176838"/>
            <a:ext cx="331470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078248" y="4376738"/>
            <a:ext cx="307124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dense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066800" y="6415088"/>
            <a:ext cx="270777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38250" y="5343525"/>
            <a:ext cx="22245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Yelp Open Dataset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38250" y="5715000"/>
            <a:ext cx="244107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2018-01-01 onward, 5-core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3774579" y="6415088"/>
            <a:ext cx="138306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69829" y="5338763"/>
            <a:ext cx="111636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104,072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5157639" y="6415088"/>
            <a:ext cx="138306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52889" y="5338763"/>
            <a:ext cx="111636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54,056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6540698" y="6415088"/>
            <a:ext cx="218628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35948" y="5338763"/>
            <a:ext cx="1919585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~10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8726984" y="6415088"/>
            <a:ext cx="517981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898434" y="5338763"/>
            <a:ext cx="4992308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+ categories + city + stars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13906798" y="6415088"/>
            <a:ext cx="331470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4078248" y="5338763"/>
            <a:ext cx="3071241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sparse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066800" y="6424613"/>
            <a:ext cx="16154400" cy="1295400"/>
          </a:xfrm>
          <a:prstGeom prst="rect">
            <a:avLst/>
          </a:prstGeom>
          <a:solidFill>
            <a:srgbClr val="D9775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66800" y="7710487"/>
            <a:ext cx="270777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238250" y="6581775"/>
            <a:ext cx="1830305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Amazon-Books (2023)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238250" y="7286625"/>
            <a:ext cx="24410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Hou et al., 2024 · 5-core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3774579" y="7710487"/>
            <a:ext cx="138306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69829" y="6577013"/>
            <a:ext cx="1116360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156,213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5157639" y="7710487"/>
            <a:ext cx="138306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252889" y="6577013"/>
            <a:ext cx="1116360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112,362</a:t>
            </a:r>
            <a:endParaRPr lang="en-US" sz="1950" dirty="0"/>
          </a:p>
        </p:txBody>
      </p:sp>
      <p:sp>
        <p:nvSpPr>
          <p:cNvPr id="51" name="Shape 49"/>
          <p:cNvSpPr/>
          <p:nvPr/>
        </p:nvSpPr>
        <p:spPr>
          <a:xfrm>
            <a:off x="6540698" y="7710487"/>
            <a:ext cx="218628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35948" y="6577013"/>
            <a:ext cx="1919585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~6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8726984" y="7710487"/>
            <a:ext cx="517981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898434" y="6577013"/>
            <a:ext cx="4992308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 + author + 4-level cat + 400-char description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3906798" y="7710487"/>
            <a:ext cx="331470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4078248" y="6577013"/>
            <a:ext cx="3071241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very sparse · rich text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1066800" y="8181975"/>
            <a:ext cx="15697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ML-1M tests whether the recipe breaks where SASRec is already near-optimal. Yelp and Amazon-Books are the natural transfer test — they sit in the regime RLMRec was originally designed for.</a:t>
            </a:r>
            <a:endParaRPr lang="en-US" sz="1950" dirty="0"/>
          </a:p>
        </p:txBody>
      </p:sp>
      <p:sp>
        <p:nvSpPr>
          <p:cNvPr id="58" name="Text 56"/>
          <p:cNvSpPr/>
          <p:nvPr/>
        </p:nvSpPr>
        <p:spPr>
          <a:xfrm>
            <a:off x="1066800" y="9172575"/>
            <a:ext cx="10821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Datasets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25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HEADLINE RESULT · RELATIVE NDCG@10 VS. VANILLA SASREC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lift tracks data sparsity and item-text richness.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2828925"/>
            <a:ext cx="5079950" cy="6343650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9225" y="3181350"/>
            <a:ext cx="4506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16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AMAZON-BOOKS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19225" y="3514725"/>
            <a:ext cx="45063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very sparse · rich text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4191000"/>
            <a:ext cx="4506353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0" b="1" kern="0" spc="-312" dirty="0">
                <a:solidFill>
                  <a:srgbClr val="1F7A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+60.0%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1419225" y="5353050"/>
            <a:ext cx="450635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NDCG@10: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0.0222 → 0.0355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HR@10: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+50.6%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MRR: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+53.2%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419225" y="8029575"/>
            <a:ext cx="437510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9225" y="8267700"/>
            <a:ext cx="450635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35000"/>
              </a:lnSpc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worst </a:t>
            </a:r>
            <a:r>
              <a:rPr lang="en-US" sz="1650" dirty="0" err="1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SemanticSASRec</a:t>
            </a: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-seed (0.0348) &gt; best SASRec-seed (0.0230)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603950" y="2828925"/>
            <a:ext cx="5079950" cy="6343650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56375" y="3181350"/>
            <a:ext cx="4506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16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YELP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956375" y="3514725"/>
            <a:ext cx="450635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sparse · medium text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956375" y="4191000"/>
            <a:ext cx="4506353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0" b="1" kern="0" spc="-312" dirty="0">
                <a:solidFill>
                  <a:srgbClr val="1F7A4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+30.8%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6956375" y="5353050"/>
            <a:ext cx="450635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NDCG@10: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0.0125 → 0.0164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HR@10: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+28.7%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MRR: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+24.4%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956375" y="8029575"/>
            <a:ext cx="437510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56375" y="8267700"/>
            <a:ext cx="450635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RLMRec+LightGCN also beats SASRec — alignment alone helps.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2141101" y="2828925"/>
            <a:ext cx="5080099" cy="6343650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493526" y="3181350"/>
            <a:ext cx="45065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16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MOVIELENS-1M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493526" y="3514725"/>
            <a:ext cx="450650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dense · short text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493526" y="4191000"/>
            <a:ext cx="4506507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0" b="1" kern="0" spc="-312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−3.3%</a:t>
            </a:r>
            <a:endParaRPr lang="en-US" sz="7800" dirty="0"/>
          </a:p>
        </p:txBody>
      </p:sp>
      <p:sp>
        <p:nvSpPr>
          <p:cNvPr id="22" name="Text 20"/>
          <p:cNvSpPr/>
          <p:nvPr/>
        </p:nvSpPr>
        <p:spPr>
          <a:xfrm>
            <a:off x="12493526" y="5353050"/>
            <a:ext cx="45065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NDCG@10: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0.1126 → 0.1089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Within 1.5σ. Approximately neutral.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493526" y="8029575"/>
            <a:ext cx="437524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493526" y="8267700"/>
            <a:ext cx="450650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 text = title + 1–3 genres. No semantic room to add value.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66800" y="9172575"/>
            <a:ext cx="42736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Headline · full-rank LOO, 5 seeds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25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HEADLINE RESULT · TEST METRICS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nine metrics agree on the ordering.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66800" y="2238375"/>
            <a:ext cx="12047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SASRec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423964" y="2238375"/>
            <a:ext cx="24358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RLMRec+LightGCN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012234" y="2238375"/>
            <a:ext cx="29781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 err="1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SemanticSASRec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950" i="1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(ours)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66800" y="2914650"/>
            <a:ext cx="5232350" cy="5343525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6825" y="3114675"/>
            <a:ext cx="49772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MovieLens-1M</a:t>
            </a:r>
            <a:endParaRPr lang="en-US" sz="1650" dirty="0"/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6825" y="3505200"/>
            <a:ext cx="4832300" cy="45529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27750" y="2914650"/>
            <a:ext cx="5232350" cy="5343525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27775" y="3114675"/>
            <a:ext cx="49772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Yelp</a:t>
            </a:r>
            <a:endParaRPr lang="en-US" sz="1650" dirty="0"/>
          </a:p>
        </p:txBody>
      </p:sp>
      <p:pic>
        <p:nvPicPr>
          <p:cNvPr id="12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7775" y="3505200"/>
            <a:ext cx="4832300" cy="45529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988701" y="2914650"/>
            <a:ext cx="5232499" cy="5343525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2188726" y="3114675"/>
            <a:ext cx="4977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Amazon-Books</a:t>
            </a:r>
            <a:endParaRPr lang="en-US" sz="1650" dirty="0"/>
          </a:p>
        </p:txBody>
      </p:sp>
      <p:pic>
        <p:nvPicPr>
          <p:cNvPr id="15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88726" y="3505200"/>
            <a:ext cx="4832449" cy="45529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6800" y="8486775"/>
            <a:ext cx="1663903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Amazon-Books: green dominates by a wide margin. · Yelp: green wins everywhere; orange also beats blue. · ML-1M: blue and green track; orange trails (LightGCN has no temporal signal).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1066800" y="9172575"/>
            <a:ext cx="15850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metrics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25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HEADLINE RESULT · VALIDATION NDCG@10 VS. EPOCH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 on text-rich data opens within 20 epochs.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2409825"/>
            <a:ext cx="5232350" cy="6762750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66825" y="2609850"/>
            <a:ext cx="49772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MovieLens-1M · two curves within 1σ</a:t>
            </a:r>
            <a:endParaRPr lang="en-US" sz="1650" dirty="0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6825" y="3000375"/>
            <a:ext cx="4832300" cy="59721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27750" y="2409825"/>
            <a:ext cx="5232350" cy="6762750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27775" y="2609850"/>
            <a:ext cx="49772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Yelp · gap widens through training</a:t>
            </a:r>
            <a:endParaRPr lang="en-US" sz="1650" dirty="0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7775" y="3000375"/>
            <a:ext cx="4832300" cy="59721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988701" y="2409825"/>
            <a:ext cx="5232499" cy="6762750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2188726" y="2609850"/>
            <a:ext cx="4977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Amazon-Books · separation by epoch 20</a:t>
            </a:r>
            <a:endParaRPr lang="en-US" sz="1650" dirty="0"/>
          </a:p>
        </p:txBody>
      </p:sp>
      <p:pic>
        <p:nvPicPr>
          <p:cNvPr id="12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88726" y="3000376"/>
            <a:ext cx="4832449" cy="59721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6800" y="9172575"/>
            <a:ext cx="543960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Validation curves · mean ± 1σ over 5 seeds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25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ABLATION · FIVE PATTERNS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design choices actually matter?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66800" y="2676525"/>
            <a:ext cx="80055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Loss components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66800" y="3143250"/>
            <a:ext cx="8005572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alignment heads matter on sparse data, </a:t>
            </a:r>
            <a:r>
              <a:rPr lang="en-US" sz="2400" b="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asymmetrically </a:t>
            </a:r>
            <a:r>
              <a:rPr lang="en-US" sz="240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Amazon-Books: user head dominates (−32% NDCG to remove). Yelp: item head dominates (−16%).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48800" y="2676525"/>
            <a:ext cx="80055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λ sweep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448800" y="3143250"/>
            <a:ext cx="800557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Bell-shaped on every dataset. Default </a:t>
            </a:r>
            <a:r>
              <a:rPr lang="en-US" sz="24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λ = 0.1 </a:t>
            </a:r>
            <a:r>
              <a:rPr lang="en-US" sz="240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sits near the peak. </a:t>
            </a:r>
            <a:r>
              <a:rPr lang="en-US" sz="24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λ = 1.0 </a:t>
            </a:r>
            <a:r>
              <a:rPr lang="en-US" sz="240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collapses by 19–39%.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6800" y="5124450"/>
            <a:ext cx="80055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InfoNCE temperature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66800" y="5591175"/>
            <a:ext cx="8005572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most robust knob. Entire </a:t>
            </a:r>
            <a:r>
              <a:rPr lang="en-US" sz="24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τ </a:t>
            </a:r>
            <a:r>
              <a:rPr lang="en-US" sz="240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sweep stays within ±10% on every dataset.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448800" y="5124450"/>
            <a:ext cx="80055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Projection head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448800" y="5591175"/>
            <a:ext cx="8005572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 matches MLP on dense / short-text data. MLP wins by 18.6% on Amazon-Books — the nonlinearity decouples CF ranking from semantic alignment.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66800" y="7162800"/>
            <a:ext cx="166390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Sentence encoder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800" y="7629525"/>
            <a:ext cx="14716125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Swapping BGE-large (1024-d) for MiniLM (384-d) costs 20% NDCG on Amazon-Books, ≤7% elsewhere. When the text is rich, encoder capacity matters; when it isn't, none of these knobs save you.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66800" y="9172575"/>
            <a:ext cx="20879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Ablation summary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25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LIMITATIONS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caveats on the claim.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2676525"/>
            <a:ext cx="5156150" cy="6496050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57325" y="3028950"/>
            <a:ext cx="45063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57325" y="3676650"/>
            <a:ext cx="450635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b="1" kern="0" spc="-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 profiles, not LLM-authored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57325" y="4705350"/>
            <a:ext cx="4506353" cy="180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RLMRec originally used an LLM to write user/item profiles; I used a deterministic template builder. Reported gains are almost certainly a </a:t>
            </a:r>
            <a:r>
              <a:rPr lang="en-US" sz="1950" i="1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 bound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65850" y="2676525"/>
            <a:ext cx="5156150" cy="6496050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56375" y="3028950"/>
            <a:ext cx="45063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956375" y="3676650"/>
            <a:ext cx="450635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b="1" kern="0" spc="-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Backbone untuned per dataset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956375" y="4705350"/>
            <a:ext cx="4506353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higher dropout or longer max sequence is known to help on Amazon-Books. Defaults kept across all three datasets to keep the comparison clean.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64901" y="2676525"/>
            <a:ext cx="5156299" cy="6496050"/>
          </a:xfrm>
          <a:prstGeom prst="roundRect">
            <a:avLst>
              <a:gd name="adj" fmla="val 1108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455426" y="3028950"/>
            <a:ext cx="450650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455426" y="3676650"/>
            <a:ext cx="450650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b="1" kern="0" spc="-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Single-step next-item only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455426" y="4276725"/>
            <a:ext cx="4506507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 is leave-one-out next-item — the protocol both SASRec and RLMRec target. Session-level or multi-step retrieval may behave differently.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66800" y="9172575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Limitations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25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4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A39E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66800" y="1595438"/>
            <a:ext cx="16639032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300" b="1" kern="0" spc="-126" dirty="0">
                <a:solidFill>
                  <a:srgbClr val="F4F0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RLMRec-style alignment transfers cleanly to a sequential backbone — </a:t>
            </a:r>
            <a:r>
              <a:rPr lang="en-US" sz="6300" b="1" kern="0" spc="-126" dirty="0">
                <a:solidFill>
                  <a:srgbClr val="A39E9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data regime it was designed for.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066800" y="4872038"/>
            <a:ext cx="5310835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600" b="1" kern="0" spc="-264" dirty="0">
                <a:solidFill>
                  <a:srgbClr val="7AD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+60%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066800" y="5795963"/>
            <a:ext cx="53108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A39E9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NDCG@10 on Amazon-Books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565850" y="4872038"/>
            <a:ext cx="5310835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600" b="1" kern="0" spc="-264" dirty="0">
                <a:solidFill>
                  <a:srgbClr val="7AD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MLPs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6565850" y="5795963"/>
            <a:ext cx="53108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A39E9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engineering footprint on top of SASRec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064901" y="4872038"/>
            <a:ext cx="5310988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600" b="1" kern="0" spc="-264" dirty="0">
                <a:solidFill>
                  <a:srgbClr val="7AD3A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~0 ms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12064901" y="5795963"/>
            <a:ext cx="53109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A39E9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added wall-clock at training (cache + tiny logit matrices)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66800" y="7224713"/>
            <a:ext cx="10791825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000" dirty="0">
                <a:solidFill>
                  <a:srgbClr val="DCD7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code, configs, seeds, and the cached semantic embeddings are released. </a:t>
            </a:r>
            <a:r>
              <a:rPr lang="en-US" sz="3000" dirty="0">
                <a:solidFill>
                  <a:srgbClr val="7AD3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run_everything.py </a:t>
            </a:r>
            <a:r>
              <a:rPr lang="en-US" sz="3000" dirty="0">
                <a:solidFill>
                  <a:srgbClr val="DCD7C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reproduces Table 1 end to end.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019437" y="8158163"/>
            <a:ext cx="227796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600" kern="0" spc="-36" dirty="0">
                <a:solidFill>
                  <a:srgbClr val="A39E9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066800" y="9172575"/>
            <a:ext cx="20879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A39E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 of core talk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A39E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25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OPTIONAL —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3409950"/>
            <a:ext cx="1663903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1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§ appendix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066800" y="4248150"/>
            <a:ext cx="16639032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0" b="1" kern="0" spc="-233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dive</a:t>
            </a:r>
            <a:endParaRPr lang="en-US" sz="9300" dirty="0"/>
          </a:p>
        </p:txBody>
      </p:sp>
      <p:sp>
        <p:nvSpPr>
          <p:cNvPr id="5" name="Text 3"/>
          <p:cNvSpPr/>
          <p:nvPr/>
        </p:nvSpPr>
        <p:spPr>
          <a:xfrm>
            <a:off x="1066800" y="5886450"/>
            <a:ext cx="1471612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Profile construction · backbone in detail · InfoNCE derivation · projection-head design · Algorithm 1 · full ablation table · comparison to original papers.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66800" y="9172575"/>
            <a:ext cx="22136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Deep-dive section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25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DIVE · DATASETS IN DETAIL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Density and text richness pull in opposite directions.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2600325"/>
            <a:ext cx="5181600" cy="6572250"/>
          </a:xfrm>
          <a:prstGeom prst="roundRect">
            <a:avLst>
              <a:gd name="adj" fmla="val 1103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57325" y="2952750"/>
            <a:ext cx="45325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75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MovieLens-1M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57325" y="3343275"/>
            <a:ext cx="45325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Harper &amp; Konstan 2015 · ratings ≥2000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57325" y="3924300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411885" y="3924300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6,040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57325" y="4352925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411885" y="4352925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3,706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57325" y="4781550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inter/user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411885" y="4781550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~165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57325" y="5210175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 text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411885" y="5210175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 + genres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57325" y="5638800"/>
            <a:ext cx="18593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text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411885" y="5638800"/>
            <a:ext cx="25221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+ top-3 genres + last 5 films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457325" y="8010525"/>
            <a:ext cx="440055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57325" y="8248650"/>
            <a:ext cx="453256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"Star Wars (1977). Genres: Action, Adventure, Sci-Fi."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553200" y="2600325"/>
            <a:ext cx="5181600" cy="6572250"/>
          </a:xfrm>
          <a:prstGeom prst="roundRect">
            <a:avLst>
              <a:gd name="adj" fmla="val 1103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3725" y="2952750"/>
            <a:ext cx="45325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75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Yelp Open Dataset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943725" y="3343275"/>
            <a:ext cx="45325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2022 release · reviews ≥ 2018-01-01 · 5-core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943725" y="3924300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898285" y="3924300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104,072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943725" y="4352925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898285" y="4352925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54,056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943725" y="4781550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inter/user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898285" y="4781550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~10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6943725" y="5210175"/>
            <a:ext cx="18593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 text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8898285" y="5210175"/>
            <a:ext cx="25221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+ categories + city + stars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6943725" y="5972175"/>
            <a:ext cx="18593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text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8898285" y="5972175"/>
            <a:ext cx="25221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review_count + top-3 cats + last 5 places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6943725" y="8010525"/>
            <a:ext cx="440055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43725" y="8248650"/>
            <a:ext cx="453256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"Joe's Pizza. Categories: Italian, Pizza. Located in NYC, NY. 4.0 stars."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2039600" y="2600325"/>
            <a:ext cx="5181600" cy="6572250"/>
          </a:xfrm>
          <a:prstGeom prst="roundRect">
            <a:avLst>
              <a:gd name="adj" fmla="val 1103"/>
            </a:avLst>
          </a:prstGeom>
          <a:solidFill>
            <a:srgbClr val="D97757">
              <a:alpha val="6000"/>
            </a:srgbClr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430125" y="2952750"/>
            <a:ext cx="45325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D977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Amazon-Books 2023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2430125" y="3343275"/>
            <a:ext cx="45325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Hou et al. 2024 · 5-core · ≥ 2018-01-01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430125" y="3924300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users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4384685" y="3924300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156,213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430125" y="4352925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items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4384685" y="4352925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112,362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2430125" y="4781550"/>
            <a:ext cx="18593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inter/user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4384685" y="4781550"/>
            <a:ext cx="25221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~6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2430125" y="5210175"/>
            <a:ext cx="185931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 text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4384685" y="5210175"/>
            <a:ext cx="252219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 + author + 4-level cat + 400-char desc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2430125" y="6305550"/>
            <a:ext cx="18593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text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4384685" y="6305550"/>
            <a:ext cx="25221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reviews + top-3 cats + last 5 titles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2430125" y="7724775"/>
            <a:ext cx="440055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2430125" y="7962900"/>
            <a:ext cx="453256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i="1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"The Pragmatic Programmer. By Hunt &amp; Thomas. Categories: Computers › Software… …4.5 average stars."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066800" y="9172575"/>
            <a:ext cx="18365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 detail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25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DIVE · PROFILE TEXT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Profiles are templated, not LLM-authored.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66800" y="2219325"/>
            <a:ext cx="147161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000" kern="0" spc="-1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profile is a single short string built deterministically from structured metadata.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66800" y="3190875"/>
            <a:ext cx="7905750" cy="5981700"/>
          </a:xfrm>
          <a:prstGeom prst="roundRect">
            <a:avLst>
              <a:gd name="adj" fmla="val 955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57325" y="3543300"/>
            <a:ext cx="73384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 PROFILE · ML-1M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457325" y="4048125"/>
            <a:ext cx="7124700" cy="1028700"/>
          </a:xfrm>
          <a:prstGeom prst="roundRect">
            <a:avLst>
              <a:gd name="adj" fmla="val 3704"/>
            </a:avLst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66875" y="4219575"/>
            <a:ext cx="691934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40F"/>
                </a:solidFill>
                <a:highlight>
                  <a:srgbClr val="EBE6D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 Wars (1977). Genres: Action, Adventure, Sci-Fi.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57325" y="5381625"/>
            <a:ext cx="73384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PROFILE · ML-1M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457325" y="5886450"/>
            <a:ext cx="7124700" cy="1285875"/>
          </a:xfrm>
          <a:prstGeom prst="roundRect">
            <a:avLst>
              <a:gd name="adj" fmla="val 2963"/>
            </a:avLst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60004" y="6057900"/>
            <a:ext cx="6919341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14140F"/>
                </a:solidFill>
                <a:highlight>
                  <a:srgbClr val="EBE6D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25–34 male programmer who enjoys Action, Sci-Fi, Adventure movies. Recently watched: Inception; The Matrix; Star Wars; …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57325" y="8543925"/>
            <a:ext cx="73384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Short, structured. Little to align with beyond IDs.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315450" y="3190875"/>
            <a:ext cx="7905750" cy="5981700"/>
          </a:xfrm>
          <a:prstGeom prst="roundRect">
            <a:avLst>
              <a:gd name="adj" fmla="val 955"/>
            </a:avLst>
          </a:prstGeom>
          <a:solidFill>
            <a:srgbClr val="D97757">
              <a:alpha val="4000"/>
            </a:srgbClr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05975" y="3543300"/>
            <a:ext cx="73384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 PROFILE · Amazon-Books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705975" y="4048125"/>
            <a:ext cx="7124700" cy="1771650"/>
          </a:xfrm>
          <a:prstGeom prst="roundRect">
            <a:avLst>
              <a:gd name="adj" fmla="val 2151"/>
            </a:avLst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15525" y="4219575"/>
            <a:ext cx="6919341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14140F"/>
                </a:solidFill>
                <a:highlight>
                  <a:srgbClr val="EBE6D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Pragmatic Programmer. By Hunt &amp; Thomas. Categories: Computers › Software › Methodology. Author: Andrew Hunt, David Thomas. A guide for working programmers… 4.5 average stars.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05975" y="6048375"/>
            <a:ext cx="73384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PROFILE · Amazon-Books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705975" y="6553200"/>
            <a:ext cx="7124700" cy="1200150"/>
          </a:xfrm>
          <a:prstGeom prst="roundRect">
            <a:avLst>
              <a:gd name="adj" fmla="val 3175"/>
            </a:avLst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15525" y="6724650"/>
            <a:ext cx="691934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14140F"/>
                </a:solidFill>
                <a:highlight>
                  <a:srgbClr val="EBE6D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 reviews across Computers, Fantasy, Biography. Recently read: Designing Data-Intensive Apps; The Hobbit; Algorithms; 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05975" y="8543925"/>
            <a:ext cx="73384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Paragraph-scale. The richness is exactly what the alignment latches onto.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66800" y="9172575"/>
            <a:ext cx="2590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Profile construction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25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DIVE · BACKBONE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SASRec backbone — paper-faithful, unchanged.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66800" y="2524125"/>
            <a:ext cx="84881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75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Embedding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66800" y="2990850"/>
            <a:ext cx="8240911" cy="877491"/>
          </a:xfrm>
          <a:prstGeom prst="roundRect">
            <a:avLst>
              <a:gd name="adj" fmla="val 6513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5875" y="3152775"/>
            <a:ext cx="8049988" cy="591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</a:t>
            </a:r>
            <a:r>
              <a:rPr lang="en-US" sz="2125" i="1" baseline="3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(0)</a:t>
            </a:r>
            <a:r>
              <a:rPr lang="en-US" sz="21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 </a:t>
            </a:r>
            <a:r>
              <a:rPr lang="en-US" sz="25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= √d · emb(i</a:t>
            </a:r>
            <a:r>
              <a:rPr lang="en-US" sz="21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</a:t>
            </a:r>
            <a:r>
              <a:rPr lang="en-US" sz="25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) + pos(t)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66800" y="4135041"/>
            <a:ext cx="84881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75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Masked BCE loss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66800" y="4601766"/>
            <a:ext cx="8240911" cy="1191220"/>
          </a:xfrm>
          <a:prstGeom prst="roundRect">
            <a:avLst>
              <a:gd name="adj" fmla="val 4798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5875" y="4763691"/>
            <a:ext cx="8049988" cy="90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𝓛</a:t>
            </a:r>
            <a:r>
              <a:rPr lang="en-US" sz="16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BCE </a:t>
            </a:r>
            <a:r>
              <a:rPr lang="en-US" sz="19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= − (1/|M|) Σ</a:t>
            </a:r>
            <a:r>
              <a:rPr lang="en-US" sz="16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(u,t)∈M </a:t>
            </a:r>
            <a:r>
              <a:rPr lang="en-US" sz="19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log σ(H</a:t>
            </a:r>
            <a:r>
              <a:rPr lang="en-US" sz="16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u,t</a:t>
            </a:r>
            <a:r>
              <a:rPr lang="en-US" sz="1625" i="1" baseline="3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⊤ </a:t>
            </a:r>
            <a:r>
              <a:rPr lang="en-US" sz="19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emb(i</a:t>
            </a:r>
            <a:r>
              <a:rPr lang="en-US" sz="16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</a:t>
            </a:r>
            <a:r>
              <a:rPr lang="en-US" sz="1625" i="1" baseline="3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+</a:t>
            </a:r>
            <a:r>
              <a:rPr lang="en-US" sz="19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)) + log(1 − σ(H</a:t>
            </a:r>
            <a:r>
              <a:rPr lang="en-US" sz="16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u,t</a:t>
            </a:r>
            <a:r>
              <a:rPr lang="en-US" sz="1625" i="1" baseline="3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⊤ </a:t>
            </a:r>
            <a:r>
              <a:rPr lang="en-US" sz="19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emb(i</a:t>
            </a:r>
            <a:r>
              <a:rPr lang="en-US" sz="16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</a:t>
            </a:r>
            <a:r>
              <a:rPr lang="en-US" sz="1625" i="1" baseline="3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−</a:t>
            </a:r>
            <a:r>
              <a:rPr lang="en-US" sz="19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)))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66800" y="6097786"/>
            <a:ext cx="8488138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sampled negative per position. At inference, only the last-position state is scored against every item, with training + validation items masked to −∞.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764911" y="2524125"/>
            <a:ext cx="76799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2756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Hyperparameters (held constant across datasets)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764911" y="3624263"/>
            <a:ext cx="346516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36361" y="3143250"/>
            <a:ext cx="32262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dim </a:t>
            </a: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230076" y="3624263"/>
            <a:ext cx="3991273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281788" y="3143250"/>
            <a:ext cx="376811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764911" y="4271963"/>
            <a:ext cx="346516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36361" y="3786188"/>
            <a:ext cx="32262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attn. blocks </a:t>
            </a: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3230076" y="4271963"/>
            <a:ext cx="3991273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281788" y="3786188"/>
            <a:ext cx="3768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764911" y="4919663"/>
            <a:ext cx="346516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36361" y="4433888"/>
            <a:ext cx="32262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attention heads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230076" y="4919663"/>
            <a:ext cx="3991273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281788" y="4433888"/>
            <a:ext cx="3768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764911" y="5567363"/>
            <a:ext cx="346516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36361" y="5081588"/>
            <a:ext cx="32262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dropout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3230076" y="5567363"/>
            <a:ext cx="3991273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281788" y="5081588"/>
            <a:ext cx="3768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764911" y="6215063"/>
            <a:ext cx="346516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936361" y="5729288"/>
            <a:ext cx="32262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size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3230076" y="6215063"/>
            <a:ext cx="3991273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281788" y="5729288"/>
            <a:ext cx="3768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128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764911" y="6862763"/>
            <a:ext cx="346516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936361" y="6376988"/>
            <a:ext cx="32262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 seq. length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3230076" y="6862763"/>
            <a:ext cx="3991273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281788" y="6376988"/>
            <a:ext cx="3768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200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764911" y="7510462"/>
            <a:ext cx="346516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936361" y="7024688"/>
            <a:ext cx="32262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optimizer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3230076" y="7510462"/>
            <a:ext cx="3991273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281788" y="7024688"/>
            <a:ext cx="3768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Adam · lr 1e-3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764911" y="8158163"/>
            <a:ext cx="3465165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936361" y="7672388"/>
            <a:ext cx="32262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β₁, β₂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3230076" y="8158163"/>
            <a:ext cx="3991273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281788" y="7672388"/>
            <a:ext cx="37681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0.9, 0.98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764911" y="8362950"/>
            <a:ext cx="767997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Sequences left-padded to 200 with ID 0. Pre-norm causal multi-head attention with point-wise feed-forward (two 1×1 convs + residual). Final LayerNorm before scoring.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066800" y="9248775"/>
            <a:ext cx="1962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SASRec backbone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6341030" y="92487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25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DIVE · ALIGNMENT LOSS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Symmetric InfoNCE on L2-normalized projections.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66800" y="2524125"/>
            <a:ext cx="8849297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 </a:t>
            </a:r>
            <a:r>
              <a:rPr lang="en-US" sz="1950" i="1" dirty="0">
                <a:solidFill>
                  <a:srgbClr val="2A2A2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q = g</a:t>
            </a:r>
            <a:r>
              <a:rPr lang="en-US" sz="1625" i="1" baseline="-40000" dirty="0">
                <a:solidFill>
                  <a:srgbClr val="2A2A2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θ</a:t>
            </a:r>
            <a:r>
              <a:rPr lang="en-US" sz="1950" i="1" dirty="0">
                <a:solidFill>
                  <a:srgbClr val="2A2A2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(x)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 the projected CF vector and </a:t>
            </a:r>
            <a:r>
              <a:rPr lang="en-US" sz="1950" i="1" dirty="0">
                <a:solidFill>
                  <a:srgbClr val="2A2A2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k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 the L2-normalized frozen semantic target. Form the cosine-similarity logit matrix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66800" y="3449836"/>
            <a:ext cx="8591550" cy="877491"/>
          </a:xfrm>
          <a:prstGeom prst="roundRect">
            <a:avLst>
              <a:gd name="adj" fmla="val 6513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5875" y="3611761"/>
            <a:ext cx="8411147" cy="591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</a:t>
            </a:r>
            <a:r>
              <a:rPr lang="en-US" sz="21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ij </a:t>
            </a:r>
            <a:r>
              <a:rPr lang="en-US" sz="25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= (q̂</a:t>
            </a:r>
            <a:r>
              <a:rPr lang="en-US" sz="21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</a:t>
            </a:r>
            <a:r>
              <a:rPr lang="en-US" sz="2125" i="1" baseline="3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⊤ </a:t>
            </a:r>
            <a:r>
              <a:rPr lang="en-US" sz="25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k̂</a:t>
            </a:r>
            <a:r>
              <a:rPr lang="en-US" sz="2125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j</a:t>
            </a:r>
            <a:r>
              <a:rPr lang="en-US" sz="255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) / τ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66800" y="4555927"/>
            <a:ext cx="884929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Minimize the average of two cross-entropies on this matrix: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66800" y="5041702"/>
            <a:ext cx="8591550" cy="838795"/>
          </a:xfrm>
          <a:prstGeom prst="roundRect">
            <a:avLst>
              <a:gd name="adj" fmla="val 6813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5875" y="5203627"/>
            <a:ext cx="8411147" cy="553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𝓛</a:t>
            </a:r>
            <a:r>
              <a:rPr lang="en-US" sz="2000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InfoNCE </a:t>
            </a:r>
            <a:r>
              <a:rPr lang="en-US" sz="240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= ½ [ CE(M, I) + CE(M</a:t>
            </a:r>
            <a:r>
              <a:rPr lang="en-US" sz="2000" i="1" baseline="3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⊤</a:t>
            </a:r>
            <a:r>
              <a:rPr lang="en-US" sz="240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, I) ]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66800" y="6070997"/>
            <a:ext cx="884929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Matched pairs sit on the diagonal. Averaging the two views — "for each query, which key matches?" and "for each key, which query matches?" — keeps the gradient symmetric. The variant used in the RLMRec paper.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191750" y="2524125"/>
            <a:ext cx="7029450" cy="2661196"/>
          </a:xfrm>
          <a:prstGeom prst="roundRect">
            <a:avLst>
              <a:gd name="adj" fmla="val 2148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82275" y="2876550"/>
            <a:ext cx="643585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head (𝓛_u)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582275" y="3324225"/>
            <a:ext cx="6435852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Anchor = batch's projected last-position states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g_φᵘ(h</a:t>
            </a:r>
            <a:r>
              <a:rPr lang="en-US" sz="1625" baseline="-4000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Target = cached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</a:t>
            </a:r>
            <a:r>
              <a:rPr lang="en-US" sz="1625" baseline="-4000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enc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(τ</a:t>
            </a:r>
            <a:r>
              <a:rPr lang="en-US" sz="1625" baseline="-4000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</a:t>
            </a: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In-batch negatives = other users in the batch.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191750" y="5413921"/>
            <a:ext cx="7029450" cy="2562225"/>
          </a:xfrm>
          <a:prstGeom prst="roundRect">
            <a:avLst>
              <a:gd name="adj" fmla="val 2230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82275" y="5766346"/>
            <a:ext cx="643585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Item head (𝓛_i)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582275" y="6214021"/>
            <a:ext cx="6435852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Anchor = unique positives in the batch, sub-sampled to K=512. </a:t>
            </a: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emb-row used by BCE — no separate aligned-only copy.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191750" y="8204746"/>
            <a:ext cx="7029450" cy="1457325"/>
          </a:xfrm>
          <a:prstGeom prst="roundRect">
            <a:avLst>
              <a:gd name="adj" fmla="val 3922"/>
            </a:avLst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20350" y="8376196"/>
            <a:ext cx="67694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defaults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420350" y="8766721"/>
            <a:ext cx="67694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τ = 0.1 · K = 512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20350" y="9157246"/>
            <a:ext cx="67694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sweep: τ ∈ {0.05, 0.2, 0.5}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66800" y="9662071"/>
            <a:ext cx="18365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InfoNCE detail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341030" y="9662071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25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DIVE · PROJECTION HEADS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Two-layer MLP. The nonlinearity is the design choice.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3228975"/>
            <a:ext cx="7848600" cy="908596"/>
          </a:xfrm>
          <a:prstGeom prst="roundRect">
            <a:avLst>
              <a:gd name="adj" fmla="val 6290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04925" y="3429000"/>
            <a:ext cx="7607808" cy="546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g</a:t>
            </a:r>
            <a:r>
              <a:rPr lang="en-US" sz="2000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θ</a:t>
            </a:r>
            <a:r>
              <a:rPr lang="en-US" sz="240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(x) = W</a:t>
            </a:r>
            <a:r>
              <a:rPr lang="en-US" sz="2000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 </a:t>
            </a:r>
            <a:r>
              <a:rPr lang="en-US" sz="240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· GELU( W</a:t>
            </a:r>
            <a:r>
              <a:rPr lang="en-US" sz="2000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1 </a:t>
            </a:r>
            <a:r>
              <a:rPr lang="en-US" sz="240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x + b</a:t>
            </a:r>
            <a:r>
              <a:rPr lang="en-US" sz="2000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1 </a:t>
            </a:r>
            <a:r>
              <a:rPr lang="en-US" sz="2400" i="1" dirty="0">
                <a:solidFill>
                  <a:srgbClr val="14140F"/>
                </a:solidFill>
                <a:highlight>
                  <a:srgbClr val="FFFFFF"/>
                </a:highlight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) + b</a:t>
            </a:r>
            <a:r>
              <a:rPr lang="en-US" sz="2000" i="1" baseline="-40000" dirty="0">
                <a:solidFill>
                  <a:srgbClr val="14140F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66800" y="4442371"/>
            <a:ext cx="215652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W₁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375720" y="4442371"/>
            <a:ext cx="5705871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∈ ℝ</a:t>
            </a:r>
            <a:r>
              <a:rPr lang="en-US" sz="1625" baseline="3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1024 × 50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66800" y="4953446"/>
            <a:ext cx="2156520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W₂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375720" y="4953446"/>
            <a:ext cx="5705871" cy="415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∈ ℝ</a:t>
            </a:r>
            <a:r>
              <a:rPr lang="en-US" sz="1625" baseline="3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1024 × 1024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66800" y="5464522"/>
            <a:ext cx="2156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hidden width 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375720" y="5464522"/>
            <a:ext cx="57058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max(d, D) = 1024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66800" y="5931247"/>
            <a:ext cx="2156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CF dim 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375720" y="5931247"/>
            <a:ext cx="57058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 (= SASRec width)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66800" y="6397972"/>
            <a:ext cx="21565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semantic dim 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375720" y="6397972"/>
            <a:ext cx="57058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1024 (= BGE-large)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372600" y="3228975"/>
            <a:ext cx="7848600" cy="6153150"/>
          </a:xfrm>
          <a:prstGeom prst="roundRect">
            <a:avLst>
              <a:gd name="adj" fmla="val 929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63125" y="3581400"/>
            <a:ext cx="727957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nonlinear, not linear?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63125" y="4067175"/>
            <a:ext cx="727957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Following the SimCLR result </a:t>
            </a:r>
            <a:r>
              <a:rPr lang="en-US" sz="1950" dirty="0">
                <a:solidFill>
                  <a:srgbClr val="2A2A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[Chen et al. 2020] </a:t>
            </a: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 nonlinear head decouples the underlying representation from the contrastive objective.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63125" y="5276850"/>
            <a:ext cx="7279577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CF embedding is free to preserve ranking-relevant information that does not perfectly align with the semantic target. A linear projection cannot make that decoupling.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763125" y="6562725"/>
            <a:ext cx="7067550" cy="1095375"/>
          </a:xfrm>
          <a:prstGeom prst="roundRect">
            <a:avLst>
              <a:gd name="adj" fmla="val 3478"/>
            </a:avLst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53625" y="6696075"/>
            <a:ext cx="6898577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Ablation: </a:t>
            </a:r>
            <a:r>
              <a:rPr lang="en-US" sz="1650" dirty="0">
                <a:solidFill>
                  <a:srgbClr val="2A2A24"/>
                </a:solidFill>
                <a:highlight>
                  <a:srgbClr val="EBE6DA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 costs −18.6% NDCG on Amazon-Books (p &lt; 0.01); neutral on Yelp / ML-1M. The decoupling only earns its keep when there is rich text to absorb.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763125" y="7886700"/>
            <a:ext cx="7067550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63125" y="8086725"/>
            <a:ext cx="727957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Item head reuses the same </a:t>
            </a:r>
            <a:r>
              <a:rPr lang="en-US" sz="1650" i="1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 </a:t>
            </a: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-row that the BCE head scores against. The shared row must satisfy both objectives — that sharing is the whole point.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66800" y="9382125"/>
            <a:ext cx="20879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Projection heads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6341030" y="938212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25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DIVE · ALGORITHM 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training epoch of </a:t>
            </a:r>
            <a:r>
              <a:rPr lang="en-US" sz="5400" b="1" kern="0" spc="-81" dirty="0" err="1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SemanticSASRec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2447925"/>
            <a:ext cx="16154400" cy="5772150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9225" y="2447925"/>
            <a:ext cx="15934182" cy="576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01: </a:t>
            </a:r>
            <a:r>
              <a:rPr lang="en-US" sz="1800" b="1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Shuffle 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 index π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02: </a:t>
            </a:r>
            <a:r>
              <a:rPr lang="en-US" sz="1800" b="1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∈ {0, batch_size, 2·batch_size, …} </a:t>
            </a:r>
            <a:r>
              <a:rPr lang="en-US" sz="1800" b="1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Gather B = π[b : b + batch_size] users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 (S, P, N) — input seqs, positives, sampled negatives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 ← SASRec.encode(S) </a:t>
            </a: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(|B|, L, d)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𝓛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BCE 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Eq. 3 from H, P, N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 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g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φ</a:t>
            </a:r>
            <a:r>
              <a:rPr lang="en-US" sz="1500" baseline="3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(H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:,L−1,: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𝓛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 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InfoNCE(Q 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E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[B], τ)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← unique non-padding items in P, sub-sampled to K = 512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g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ψ</a:t>
            </a:r>
            <a:r>
              <a:rPr lang="en-US" sz="1500" baseline="3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(emb(I))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𝓛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InfoNCE(Q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E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[I], τ)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𝓛 ← 𝓛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BCE 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λ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·𝓛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 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λ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·𝓛</a:t>
            </a:r>
            <a:r>
              <a:rPr lang="en-US" sz="1500" baseline="-40000" dirty="0" err="1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r>
              <a:rPr lang="en-US" sz="1500" baseline="-40000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13: 	</a:t>
            </a:r>
            <a:r>
              <a:rPr lang="en-US" sz="1800" dirty="0">
                <a:solidFill>
                  <a:srgbClr val="14140F"/>
                </a:solidFill>
                <a:highlight>
                  <a:srgbClr val="FFFF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Adam step on ∇𝓛 </a:t>
            </a:r>
          </a:p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14: </a:t>
            </a:r>
            <a:r>
              <a:rPr lang="en-US" sz="1800" b="1" dirty="0">
                <a:solidFill>
                  <a:srgbClr val="14140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 for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8486775"/>
            <a:ext cx="1663903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InfoNCE logit matrices are tiny relative to the attention block: </a:t>
            </a: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|B|×|B| </a:t>
            </a: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 128×128 for the user head; </a:t>
            </a:r>
            <a:r>
              <a:rPr lang="en-US" sz="19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K×K </a:t>
            </a: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≤ 512×512 for the item head. Alignment adds essentially </a:t>
            </a:r>
            <a:r>
              <a:rPr lang="en-US" sz="1950" b="1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wall-clock overhead</a:t>
            </a: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66800" y="9172575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Algorithm 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25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DIVE · ABLATION TABLE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239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ablation grid · NDCG@10 vs. </a:t>
            </a:r>
            <a:r>
              <a:rPr lang="en-US" sz="3780" b="1" kern="0" spc="-81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sasrec_full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2481263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2228850"/>
            <a:ext cx="617972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b="1" kern="0" spc="9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VARIANT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7325469" y="248126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57061" y="2228850"/>
            <a:ext cx="32270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125" b="1" kern="0" spc="9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ML-1M Δ%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0717411" y="248126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49003" y="2228850"/>
            <a:ext cx="32270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125" b="1" kern="0" spc="9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YELP Δ%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14109353" y="2481263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49334" y="2228850"/>
            <a:ext cx="29389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125" b="1" kern="0" spc="9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AMAZON Δ%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066800" y="2490788"/>
            <a:ext cx="16154846" cy="485775"/>
          </a:xfrm>
          <a:prstGeom prst="rect">
            <a:avLst/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6800" y="2967038"/>
            <a:ext cx="16154846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0150" y="2662238"/>
            <a:ext cx="163727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kern="0" spc="13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LOSS COMPONENTS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66800" y="3348038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0150" y="3043238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user-align </a:t>
            </a: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(λᵤ = 0)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7325469" y="334803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57061" y="304323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−11.2 *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10717411" y="334803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49003" y="304323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+2.1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4109353" y="3348038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149334" y="3043238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−32.0 **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1066800" y="3729038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00150" y="3424238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item-align </a:t>
            </a: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(λᵢ = 0)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7325469" y="372903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57061" y="342423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+4.5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0717411" y="372903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749003" y="342423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−15.7 *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14109353" y="3729038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149334" y="3424238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−8.7 *</a:t>
            </a:r>
            <a:endParaRPr lang="en-US" sz="1425" dirty="0"/>
          </a:p>
        </p:txBody>
      </p:sp>
      <p:sp>
        <p:nvSpPr>
          <p:cNvPr id="31" name="Shape 29"/>
          <p:cNvSpPr/>
          <p:nvPr/>
        </p:nvSpPr>
        <p:spPr>
          <a:xfrm>
            <a:off x="1066800" y="4110038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00150" y="3805238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align (~ pure SASRec)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7325469" y="411003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57061" y="380523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+4.1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0717411" y="411003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749003" y="380523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−25.3 **</a:t>
            </a:r>
            <a:endParaRPr lang="en-US" sz="1425" dirty="0"/>
          </a:p>
        </p:txBody>
      </p:sp>
      <p:sp>
        <p:nvSpPr>
          <p:cNvPr id="37" name="Shape 35"/>
          <p:cNvSpPr/>
          <p:nvPr/>
        </p:nvSpPr>
        <p:spPr>
          <a:xfrm>
            <a:off x="14109353" y="4110038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4149334" y="3805238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−38.8 **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1066800" y="4119562"/>
            <a:ext cx="16154846" cy="485775"/>
          </a:xfrm>
          <a:prstGeom prst="rect">
            <a:avLst/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66800" y="4595813"/>
            <a:ext cx="16154846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200150" y="4291013"/>
            <a:ext cx="163727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kern="0" spc="13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ALIGNMENT WEIGHT Λ SWEEP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066800" y="4976813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00150" y="4672013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λ = 0.01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7325469" y="497681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357061" y="4672013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+6.1</a:t>
            </a:r>
            <a:endParaRPr lang="en-US" sz="1425" dirty="0"/>
          </a:p>
        </p:txBody>
      </p:sp>
      <p:sp>
        <p:nvSpPr>
          <p:cNvPr id="46" name="Shape 44"/>
          <p:cNvSpPr/>
          <p:nvPr/>
        </p:nvSpPr>
        <p:spPr>
          <a:xfrm>
            <a:off x="10717411" y="497681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749003" y="4672013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−8.9 **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14109353" y="4976813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4149334" y="4672013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−19.5 **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066800" y="5357813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200150" y="5053013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λ = 0.05</a:t>
            </a:r>
            <a:endParaRPr lang="en-US" sz="1425" dirty="0"/>
          </a:p>
        </p:txBody>
      </p:sp>
      <p:sp>
        <p:nvSpPr>
          <p:cNvPr id="52" name="Shape 50"/>
          <p:cNvSpPr/>
          <p:nvPr/>
        </p:nvSpPr>
        <p:spPr>
          <a:xfrm>
            <a:off x="7325469" y="535781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357061" y="5053013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+6.4 *</a:t>
            </a:r>
            <a:endParaRPr lang="en-US" sz="1425" dirty="0"/>
          </a:p>
        </p:txBody>
      </p:sp>
      <p:sp>
        <p:nvSpPr>
          <p:cNvPr id="54" name="Shape 52"/>
          <p:cNvSpPr/>
          <p:nvPr/>
        </p:nvSpPr>
        <p:spPr>
          <a:xfrm>
            <a:off x="10717411" y="535781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749003" y="5053013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+1.7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14109353" y="5357813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4149334" y="5053013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−1.5</a:t>
            </a:r>
            <a:endParaRPr lang="en-US" sz="1425" dirty="0"/>
          </a:p>
        </p:txBody>
      </p:sp>
      <p:sp>
        <p:nvSpPr>
          <p:cNvPr id="58" name="Shape 56"/>
          <p:cNvSpPr/>
          <p:nvPr/>
        </p:nvSpPr>
        <p:spPr>
          <a:xfrm>
            <a:off x="1066800" y="5738813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200150" y="5434013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λ = 0.5</a:t>
            </a:r>
            <a:endParaRPr lang="en-US" sz="1425" dirty="0"/>
          </a:p>
        </p:txBody>
      </p:sp>
      <p:sp>
        <p:nvSpPr>
          <p:cNvPr id="60" name="Shape 58"/>
          <p:cNvSpPr/>
          <p:nvPr/>
        </p:nvSpPr>
        <p:spPr>
          <a:xfrm>
            <a:off x="7325469" y="573881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357061" y="5434013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−28.4 **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0717411" y="573881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0749003" y="5434013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−16.0 **</a:t>
            </a:r>
            <a:endParaRPr lang="en-US" sz="1425" dirty="0"/>
          </a:p>
        </p:txBody>
      </p:sp>
      <p:sp>
        <p:nvSpPr>
          <p:cNvPr id="64" name="Shape 62"/>
          <p:cNvSpPr/>
          <p:nvPr/>
        </p:nvSpPr>
        <p:spPr>
          <a:xfrm>
            <a:off x="14109353" y="5738813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4149334" y="5434013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−11.0 *</a:t>
            </a:r>
            <a:endParaRPr lang="en-US" sz="1425" dirty="0"/>
          </a:p>
        </p:txBody>
      </p:sp>
      <p:sp>
        <p:nvSpPr>
          <p:cNvPr id="66" name="Shape 64"/>
          <p:cNvSpPr/>
          <p:nvPr/>
        </p:nvSpPr>
        <p:spPr>
          <a:xfrm>
            <a:off x="1066800" y="6119813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200150" y="5815013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λ = 1.0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7325469" y="611981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357061" y="5815013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−38.7 ***</a:t>
            </a:r>
            <a:endParaRPr lang="en-US" sz="1425" dirty="0"/>
          </a:p>
        </p:txBody>
      </p:sp>
      <p:sp>
        <p:nvSpPr>
          <p:cNvPr id="70" name="Shape 68"/>
          <p:cNvSpPr/>
          <p:nvPr/>
        </p:nvSpPr>
        <p:spPr>
          <a:xfrm>
            <a:off x="10717411" y="6119813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0749003" y="5815013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−26.0 ***</a:t>
            </a:r>
            <a:endParaRPr lang="en-US" sz="1425" dirty="0"/>
          </a:p>
        </p:txBody>
      </p:sp>
      <p:sp>
        <p:nvSpPr>
          <p:cNvPr id="72" name="Shape 70"/>
          <p:cNvSpPr/>
          <p:nvPr/>
        </p:nvSpPr>
        <p:spPr>
          <a:xfrm>
            <a:off x="14109353" y="6119813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4149334" y="5815013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−19.0 **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066800" y="6129338"/>
            <a:ext cx="16154846" cy="485775"/>
          </a:xfrm>
          <a:prstGeom prst="rect">
            <a:avLst/>
          </a:prstGeom>
          <a:solidFill>
            <a:srgbClr val="EBE6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66800" y="6605588"/>
            <a:ext cx="16154846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200150" y="6300788"/>
            <a:ext cx="163727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kern="0" spc="135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INFONCE TEMPERATURE Τ · ARCHITECTURE / ENCODER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1066800" y="6986588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200150" y="6681788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τ = 0.05</a:t>
            </a:r>
            <a:endParaRPr lang="en-US" sz="1425" dirty="0"/>
          </a:p>
        </p:txBody>
      </p:sp>
      <p:sp>
        <p:nvSpPr>
          <p:cNvPr id="79" name="Shape 77"/>
          <p:cNvSpPr/>
          <p:nvPr/>
        </p:nvSpPr>
        <p:spPr>
          <a:xfrm>
            <a:off x="7325469" y="698658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357061" y="668178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−2.9</a:t>
            </a:r>
            <a:endParaRPr lang="en-US" sz="1425" dirty="0"/>
          </a:p>
        </p:txBody>
      </p:sp>
      <p:sp>
        <p:nvSpPr>
          <p:cNvPr id="81" name="Shape 79"/>
          <p:cNvSpPr/>
          <p:nvPr/>
        </p:nvSpPr>
        <p:spPr>
          <a:xfrm>
            <a:off x="10717411" y="698658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0749003" y="668178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−7.0</a:t>
            </a:r>
            <a:endParaRPr lang="en-US" sz="1425" dirty="0"/>
          </a:p>
        </p:txBody>
      </p:sp>
      <p:sp>
        <p:nvSpPr>
          <p:cNvPr id="83" name="Shape 81"/>
          <p:cNvSpPr/>
          <p:nvPr/>
        </p:nvSpPr>
        <p:spPr>
          <a:xfrm>
            <a:off x="14109353" y="6986588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4149334" y="6681788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−6.6 **</a:t>
            </a:r>
            <a:endParaRPr lang="en-US" sz="1425" dirty="0"/>
          </a:p>
        </p:txBody>
      </p:sp>
      <p:sp>
        <p:nvSpPr>
          <p:cNvPr id="85" name="Shape 83"/>
          <p:cNvSpPr/>
          <p:nvPr/>
        </p:nvSpPr>
        <p:spPr>
          <a:xfrm>
            <a:off x="1066800" y="7367587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200150" y="7062788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τ = 0.2</a:t>
            </a:r>
            <a:endParaRPr lang="en-US" sz="1425" dirty="0"/>
          </a:p>
        </p:txBody>
      </p:sp>
      <p:sp>
        <p:nvSpPr>
          <p:cNvPr id="87" name="Shape 85"/>
          <p:cNvSpPr/>
          <p:nvPr/>
        </p:nvSpPr>
        <p:spPr>
          <a:xfrm>
            <a:off x="7325469" y="7367587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357061" y="706278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</a:t>
            </a:r>
            <a:endParaRPr lang="en-US" sz="1425" dirty="0"/>
          </a:p>
        </p:txBody>
      </p:sp>
      <p:sp>
        <p:nvSpPr>
          <p:cNvPr id="89" name="Shape 87"/>
          <p:cNvSpPr/>
          <p:nvPr/>
        </p:nvSpPr>
        <p:spPr>
          <a:xfrm>
            <a:off x="10717411" y="7367587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0749003" y="706278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+3.1</a:t>
            </a:r>
            <a:endParaRPr lang="en-US" sz="1425" dirty="0"/>
          </a:p>
        </p:txBody>
      </p:sp>
      <p:sp>
        <p:nvSpPr>
          <p:cNvPr id="91" name="Shape 89"/>
          <p:cNvSpPr/>
          <p:nvPr/>
        </p:nvSpPr>
        <p:spPr>
          <a:xfrm>
            <a:off x="14109353" y="7367587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4149334" y="7062788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</a:t>
            </a:r>
            <a:endParaRPr lang="en-US" sz="1425" dirty="0"/>
          </a:p>
        </p:txBody>
      </p:sp>
      <p:sp>
        <p:nvSpPr>
          <p:cNvPr id="93" name="Shape 91"/>
          <p:cNvSpPr/>
          <p:nvPr/>
        </p:nvSpPr>
        <p:spPr>
          <a:xfrm>
            <a:off x="1066800" y="7748588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200150" y="7443788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τ = 0.5</a:t>
            </a:r>
            <a:endParaRPr lang="en-US" sz="1425" dirty="0"/>
          </a:p>
        </p:txBody>
      </p:sp>
      <p:sp>
        <p:nvSpPr>
          <p:cNvPr id="95" name="Shape 93"/>
          <p:cNvSpPr/>
          <p:nvPr/>
        </p:nvSpPr>
        <p:spPr>
          <a:xfrm>
            <a:off x="7325469" y="774858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7357061" y="744378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+6.3</a:t>
            </a:r>
            <a:endParaRPr lang="en-US" sz="1425" dirty="0"/>
          </a:p>
        </p:txBody>
      </p:sp>
      <p:sp>
        <p:nvSpPr>
          <p:cNvPr id="97" name="Shape 95"/>
          <p:cNvSpPr/>
          <p:nvPr/>
        </p:nvSpPr>
        <p:spPr>
          <a:xfrm>
            <a:off x="10717411" y="774858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10749003" y="7443788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−3.8</a:t>
            </a:r>
            <a:endParaRPr lang="en-US" sz="1425" dirty="0"/>
          </a:p>
        </p:txBody>
      </p:sp>
      <p:sp>
        <p:nvSpPr>
          <p:cNvPr id="99" name="Shape 97"/>
          <p:cNvSpPr/>
          <p:nvPr/>
        </p:nvSpPr>
        <p:spPr>
          <a:xfrm>
            <a:off x="14109353" y="7748588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14149334" y="7443788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−9.5 *</a:t>
            </a:r>
            <a:endParaRPr lang="en-US" sz="1425" dirty="0"/>
          </a:p>
        </p:txBody>
      </p:sp>
      <p:sp>
        <p:nvSpPr>
          <p:cNvPr id="101" name="Shape 99"/>
          <p:cNvSpPr/>
          <p:nvPr/>
        </p:nvSpPr>
        <p:spPr>
          <a:xfrm>
            <a:off x="1066800" y="8129588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200150" y="7824787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 proj-head</a:t>
            </a:r>
            <a:endParaRPr lang="en-US" sz="1425" dirty="0"/>
          </a:p>
        </p:txBody>
      </p:sp>
      <p:sp>
        <p:nvSpPr>
          <p:cNvPr id="103" name="Shape 101"/>
          <p:cNvSpPr/>
          <p:nvPr/>
        </p:nvSpPr>
        <p:spPr>
          <a:xfrm>
            <a:off x="7325469" y="812958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357061" y="7824787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−2.6</a:t>
            </a:r>
            <a:endParaRPr lang="en-US" sz="1425" dirty="0"/>
          </a:p>
        </p:txBody>
      </p:sp>
      <p:sp>
        <p:nvSpPr>
          <p:cNvPr id="105" name="Shape 103"/>
          <p:cNvSpPr/>
          <p:nvPr/>
        </p:nvSpPr>
        <p:spPr>
          <a:xfrm>
            <a:off x="10717411" y="812958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0749003" y="7824787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−1.2</a:t>
            </a:r>
            <a:endParaRPr lang="en-US" sz="1425" dirty="0"/>
          </a:p>
        </p:txBody>
      </p:sp>
      <p:sp>
        <p:nvSpPr>
          <p:cNvPr id="107" name="Shape 105"/>
          <p:cNvSpPr/>
          <p:nvPr/>
        </p:nvSpPr>
        <p:spPr>
          <a:xfrm>
            <a:off x="14109353" y="8129588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4149334" y="7824787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−18.6 **</a:t>
            </a:r>
            <a:endParaRPr lang="en-US" sz="1425" dirty="0"/>
          </a:p>
        </p:txBody>
      </p:sp>
      <p:sp>
        <p:nvSpPr>
          <p:cNvPr id="109" name="Shape 107"/>
          <p:cNvSpPr/>
          <p:nvPr/>
        </p:nvSpPr>
        <p:spPr>
          <a:xfrm>
            <a:off x="1066800" y="8510588"/>
            <a:ext cx="6258669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200150" y="8205787"/>
            <a:ext cx="61797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MiniLM-L6-v2 encoder</a:t>
            </a:r>
            <a:endParaRPr lang="en-US" sz="1425" dirty="0"/>
          </a:p>
        </p:txBody>
      </p:sp>
      <p:sp>
        <p:nvSpPr>
          <p:cNvPr id="111" name="Shape 109"/>
          <p:cNvSpPr/>
          <p:nvPr/>
        </p:nvSpPr>
        <p:spPr>
          <a:xfrm>
            <a:off x="7325469" y="851058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7357061" y="8205787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−6.9</a:t>
            </a:r>
            <a:endParaRPr lang="en-US" sz="1425" dirty="0"/>
          </a:p>
        </p:txBody>
      </p:sp>
      <p:sp>
        <p:nvSpPr>
          <p:cNvPr id="113" name="Shape 111"/>
          <p:cNvSpPr/>
          <p:nvPr/>
        </p:nvSpPr>
        <p:spPr>
          <a:xfrm>
            <a:off x="10717411" y="8510588"/>
            <a:ext cx="3391942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10749003" y="8205787"/>
            <a:ext cx="32270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−3.3</a:t>
            </a:r>
            <a:endParaRPr lang="en-US" sz="1425" dirty="0"/>
          </a:p>
        </p:txBody>
      </p:sp>
      <p:sp>
        <p:nvSpPr>
          <p:cNvPr id="115" name="Shape 113"/>
          <p:cNvSpPr/>
          <p:nvPr/>
        </p:nvSpPr>
        <p:spPr>
          <a:xfrm>
            <a:off x="14109353" y="8510588"/>
            <a:ext cx="3112294" cy="9525"/>
          </a:xfrm>
          <a:prstGeom prst="rect">
            <a:avLst/>
          </a:prstGeom>
          <a:solidFill>
            <a:srgbClr val="14140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14149334" y="8205787"/>
            <a:ext cx="29389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425" dirty="0">
                <a:solidFill>
                  <a:srgbClr val="B34A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−20.1 **</a:t>
            </a:r>
            <a:endParaRPr lang="en-US" sz="1425" dirty="0"/>
          </a:p>
        </p:txBody>
      </p:sp>
      <p:sp>
        <p:nvSpPr>
          <p:cNvPr id="117" name="Text 115"/>
          <p:cNvSpPr/>
          <p:nvPr/>
        </p:nvSpPr>
        <p:spPr>
          <a:xfrm>
            <a:off x="1066800" y="889635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seeds × 50 epochs per cell. Paired two-sided t-tests vs. </a:t>
            </a: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sasrec_full</a:t>
            </a: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</a:t>
            </a:r>
            <a:r>
              <a:rPr lang="en-US" sz="1650" b="1" dirty="0">
                <a:solidFill>
                  <a:srgbClr val="B34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 </a:t>
            </a: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p&lt;.05 </a:t>
            </a:r>
            <a:r>
              <a:rPr lang="en-US" sz="1650" b="1" dirty="0">
                <a:solidFill>
                  <a:srgbClr val="B34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** </a:t>
            </a: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p&lt;.01 </a:t>
            </a:r>
            <a:r>
              <a:rPr lang="en-US" sz="1650" b="1" dirty="0">
                <a:solidFill>
                  <a:srgbClr val="B34A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*** </a:t>
            </a:r>
            <a:r>
              <a:rPr lang="en-US" sz="16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p&lt;.001.</a:t>
            </a:r>
            <a:endParaRPr lang="en-US" sz="1650" dirty="0"/>
          </a:p>
        </p:txBody>
      </p:sp>
      <p:sp>
        <p:nvSpPr>
          <p:cNvPr id="118" name="Text 116"/>
          <p:cNvSpPr/>
          <p:nvPr/>
        </p:nvSpPr>
        <p:spPr>
          <a:xfrm>
            <a:off x="1066800" y="9172575"/>
            <a:ext cx="31081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Ablation table (Table 2)</a:t>
            </a:r>
            <a:endParaRPr lang="en-US" sz="1650" dirty="0"/>
          </a:p>
        </p:txBody>
      </p:sp>
      <p:sp>
        <p:nvSpPr>
          <p:cNvPr id="119" name="Text 117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25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DIVE · ABLATION VISUALIZATION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HR@10 &amp; NDCG@10 per variant · orange = sasrec_full reference.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3114675"/>
            <a:ext cx="5232350" cy="51435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66825" y="3314700"/>
            <a:ext cx="49772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MovieLens-1M</a:t>
            </a:r>
            <a:endParaRPr lang="en-US" sz="1650" dirty="0"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6825" y="3629025"/>
            <a:ext cx="4832300" cy="44291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27750" y="3114675"/>
            <a:ext cx="5232350" cy="51435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27775" y="3314700"/>
            <a:ext cx="49772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Yelp</a:t>
            </a:r>
            <a:endParaRPr lang="en-US" sz="1650" dirty="0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7775" y="3629025"/>
            <a:ext cx="4832300" cy="442912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988701" y="3114675"/>
            <a:ext cx="5232499" cy="51435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2188726" y="3314700"/>
            <a:ext cx="49774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Amazon-Books</a:t>
            </a:r>
            <a:endParaRPr lang="en-US" sz="1650" dirty="0"/>
          </a:p>
        </p:txBody>
      </p:sp>
      <p:pic>
        <p:nvPicPr>
          <p:cNvPr id="12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188726" y="3705224"/>
            <a:ext cx="4832449" cy="43529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6800" y="8486775"/>
            <a:ext cx="1663903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65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ML-1M: ref. sits mid-cluster — alignment adds nothing here. · Yelp: ref. dominates — item head removal is the most costly single ablation. · Amazon-Books: ref. clearly best — both heads, the MLP, and the encoder all matter.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1066800" y="9172575"/>
            <a:ext cx="1710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Ablation bars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25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DIVE · FUTURE WORK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66800" y="1362075"/>
            <a:ext cx="166390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kern="0" spc="-81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natural extensions.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66800" y="2600325"/>
            <a:ext cx="7924800" cy="3171825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57325" y="2952750"/>
            <a:ext cx="73580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57325" y="3467100"/>
            <a:ext cx="73580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kern="0" spc="-24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LLM-authored profiles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57325" y="4010025"/>
            <a:ext cx="7358063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Replace the deterministic template with a Claude / GPT-4 profile builder. Expected: Yelp and Amazon-Books gains grow further; ML-1M could plausibly flip positive once a movie's profile is a paragraph instead of three words.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296400" y="2600325"/>
            <a:ext cx="7924800" cy="3171825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86925" y="2952750"/>
            <a:ext cx="73580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686925" y="3467100"/>
            <a:ext cx="73580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kern="0" spc="-24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Generative alignment (RLMRec-Gen)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86925" y="4010025"/>
            <a:ext cx="7358063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contrastive head is the simpler of the two objectives in the original paper. Test whether the masked-autoencoder variant carries similarly large gains on the sequential side.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66800" y="6076950"/>
            <a:ext cx="7924800" cy="3171825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57325" y="6429375"/>
            <a:ext cx="73580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457325" y="6943725"/>
            <a:ext cx="73580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kern="0" spc="-24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Multi-encoder consensus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57325" y="7486650"/>
            <a:ext cx="7358063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frozen encoders (e.g. one small + one large, or English + multilingual) contributing separate alignment heads — trading encoder dimension against representational diversity.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96400" y="6076950"/>
            <a:ext cx="7924800" cy="3171825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9525">
            <a:solidFill>
              <a:srgbClr val="14140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86925" y="6429375"/>
            <a:ext cx="73580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dirty="0">
                <a:solidFill>
                  <a:srgbClr val="1F7A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686925" y="6943725"/>
            <a:ext cx="73580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b="1" kern="0" spc="-24" dirty="0">
                <a:solidFill>
                  <a:srgbClr val="1414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Cold-start via head inversion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86925" y="7486650"/>
            <a:ext cx="7358063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unseen item has no learned ID embedding, but it does have a semantic embedding. The item-projection head could in principle be inverted to bootstrap a synthetic CF embedding for new items at inference time.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66800" y="9248775"/>
            <a:ext cx="14592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Future work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341030" y="92487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6B665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/ 25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4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6800" y="914400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kern="0" spc="264" dirty="0">
                <a:solidFill>
                  <a:srgbClr val="A39E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66800" y="3162300"/>
            <a:ext cx="1663903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b="1" kern="0" spc="-225" dirty="0">
                <a:solidFill>
                  <a:srgbClr val="F4F0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6341030" y="91725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A39E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/ 25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3024</Words>
  <Application>Microsoft Macintosh PowerPoint</Application>
  <PresentationFormat>Custom</PresentationFormat>
  <Paragraphs>430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IBM Plex Mono</vt:lpstr>
      <vt:lpstr>IBM Plex Sans</vt:lpstr>
      <vt:lpstr>IBM Plex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wexler</cp:lastModifiedBy>
  <cp:revision>18</cp:revision>
  <dcterms:created xsi:type="dcterms:W3CDTF">2026-05-19T20:46:50Z</dcterms:created>
  <dcterms:modified xsi:type="dcterms:W3CDTF">2026-10-18T14:05:05Z</dcterms:modified>
</cp:coreProperties>
</file>